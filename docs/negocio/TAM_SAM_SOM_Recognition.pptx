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R$ bi</c:v>
                </c:pt>
              </c:strCache>
            </c:strRef>
          </c:tx>
          <c:spPr>
            <a:solidFill>
              <a:srgbClr val="1F7A8C"/>
            </a:solidFill>
          </c:spP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12.0</c:v>
                </c:pt>
                <c:pt idx="1">
                  <c:v>14.0</c:v>
                </c:pt>
                <c:pt idx="2">
                  <c:v>16.0</c:v>
                </c:pt>
              </c:numCache>
            </c:numRef>
          </c:val>
        </c:ser>
        <c:dLbls>
          <c:numFmt formatCode="0.0&quot;  bi&quot;" sourceLinked="0"/>
          <c:txPr>
            <a:bodyPr/>
            <a:lstStyle/>
            <a:p>
              <a:pPr>
                <a:defRPr sz="1000" b="1">
                  <a:solidFill>
                    <a:srgbClr val="1A1D2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9DE"/>
            </a:solidFill>
          </a:ln>
        </c:spPr>
        <c:txPr>
          <a:bodyPr/>
          <a:lstStyle/>
          <a:p>
            <a:pPr>
              <a:defRPr sz="1100">
                <a:solidFill>
                  <a:srgbClr val="6B728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4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Conservador</c:v>
                </c:pt>
              </c:strCache>
            </c:strRef>
          </c:tx>
          <c:spPr>
            <a:solidFill>
              <a:srgbClr val="A8B2BD"/>
            </a:solidFill>
          </c:spPr>
          <c:cat>
            <c:strRef>
              <c:f>Sheet1!$A$2:$A$4</c:f>
              <c:strCache>
                <c:ptCount val="3"/>
                <c:pt idx="0">
                  <c:v>Ano 1</c:v>
                </c:pt>
                <c:pt idx="1">
                  <c:v>Ano 2</c:v>
                </c:pt>
                <c:pt idx="2">
                  <c:v>Ano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10</c:v>
                </c:pt>
                <c:pt idx="2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1F7A8C"/>
            </a:solidFill>
          </c:spPr>
          <c:cat>
            <c:strRef>
              <c:f>Sheet1!$A$2:$A$4</c:f>
              <c:strCache>
                <c:ptCount val="3"/>
                <c:pt idx="0">
                  <c:v>Ano 1</c:v>
                </c:pt>
                <c:pt idx="1">
                  <c:v>Ano 2</c:v>
                </c:pt>
                <c:pt idx="2">
                  <c:v>Ano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</c:v>
                </c:pt>
                <c:pt idx="1">
                  <c:v>16</c:v>
                </c:pt>
                <c:pt idx="2">
                  <c:v>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Otimista</c:v>
                </c:pt>
              </c:strCache>
            </c:strRef>
          </c:tx>
          <c:spPr>
            <a:solidFill>
              <a:srgbClr val="F2A71B"/>
            </a:solidFill>
          </c:spPr>
          <c:cat>
            <c:strRef>
              <c:f>Sheet1!$A$2:$A$4</c:f>
              <c:strCache>
                <c:ptCount val="3"/>
                <c:pt idx="0">
                  <c:v>Ano 1</c:v>
                </c:pt>
                <c:pt idx="1">
                  <c:v>Ano 2</c:v>
                </c:pt>
                <c:pt idx="2">
                  <c:v>Ano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</c:v>
                </c:pt>
                <c:pt idx="1">
                  <c:v>25</c:v>
                </c:pt>
                <c:pt idx="2">
                  <c:v>65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 b="1">
                  <a:solidFill>
                    <a:srgbClr val="1A1D2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B72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4E7EB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6B7280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ARR ano 3 (R$ mil)</c:v>
                </c:pt>
              </c:strCache>
            </c:strRef>
          </c:tx>
          <c:spPr>
            <a:solidFill>
              <a:srgbClr val="A8B2BD"/>
            </a:solidFill>
          </c:spPr>
          <c:cat>
            <c:strRef>
              <c:f>Sheet1!$A$2:$A$5</c:f>
              <c:strCache>
                <c:ptCount val="4"/>
                <c:pt idx="0">
                  <c:v>R$ 30/câm</c:v>
                </c:pt>
                <c:pt idx="1">
                  <c:v>R$ 50/câm
(nossa premissa)</c:v>
                </c:pt>
                <c:pt idx="2">
                  <c:v>R$ 80/câm</c:v>
                </c:pt>
                <c:pt idx="3">
                  <c:v>R$ 100/câm
(benchmark)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360</c:v>
                </c:pt>
                <c:pt idx="1">
                  <c:v>600</c:v>
                </c:pt>
                <c:pt idx="2">
                  <c:v>960</c:v>
                </c:pt>
                <c:pt idx="3">
                  <c:v>1200</c:v>
                </c:pt>
              </c:numCache>
            </c:numRef>
          </c:val>
        </c:ser>
        <c:dLbls>
          <c:numFmt formatCode="#,##0&quot;  mil&quot;" sourceLinked="0"/>
          <c:txPr>
            <a:bodyPr/>
            <a:lstStyle/>
            <a:p>
              <a:pPr>
                <a:defRPr sz="1100" b="1">
                  <a:solidFill>
                    <a:srgbClr val="1A1D2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9DE"/>
            </a:solidFill>
          </a:ln>
        </c:spPr>
        <c:txPr>
          <a:bodyPr/>
          <a:lstStyle/>
          <a:p>
            <a:pPr>
              <a:defRPr sz="1100">
                <a:solidFill>
                  <a:srgbClr val="6B728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4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CAGR mínimo (%)</c:v>
                </c:pt>
              </c:strCache>
            </c:strRef>
          </c:tx>
          <c:spPr>
            <a:solidFill>
              <a:srgbClr val="F2A71B"/>
            </a:solidFill>
          </c:spPr>
          <c:cat>
            <c:strRef>
              <c:f>Sheet1!$A$2:$A$3</c:f>
              <c:strCache>
                <c:ptCount val="2"/>
                <c:pt idx="0">
                  <c:v>Video analytics /
AI video surveillance</c:v>
                </c:pt>
                <c:pt idx="1">
                  <c:v>Machine vision
(inspeção industrial)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</c:v>
                </c:pt>
                <c:pt idx="1">
                  <c:v>8.3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CAGR máximo (%)</c:v>
                </c:pt>
              </c:strCache>
            </c:strRef>
          </c:tx>
          <c:spPr>
            <a:solidFill>
              <a:srgbClr val="1F7A8C"/>
            </a:solidFill>
          </c:spPr>
          <c:cat>
            <c:strRef>
              <c:f>Sheet1!$A$2:$A$3</c:f>
              <c:strCache>
                <c:ptCount val="2"/>
                <c:pt idx="0">
                  <c:v>Video analytics /
AI video surveillance</c:v>
                </c:pt>
                <c:pt idx="1">
                  <c:v>Machine vision
(inspeção industrial)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31</c:v>
                </c:pt>
                <c:pt idx="1">
                  <c:v>13.0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 b="1">
                  <a:solidFill>
                    <a:srgbClr val="1A1D2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50">
                <a:solidFill>
                  <a:srgbClr val="6B72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4E7EB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6B7280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2A71B"/>
                </a:solidFill>
                <a:latin typeface="Calibri"/>
              </a:rPr>
              <a:t>RECOGNITION  ·  LOGIKOS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Cambria"/>
              </a:rPr>
              <a:t>Tamanho de mercado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200" b="1" i="0">
                <a:solidFill>
                  <a:srgbClr val="F2A71B"/>
                </a:solidFill>
                <a:latin typeface="Cambria"/>
              </a:rPr>
              <a:t>TAM · SAM · SOM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B9C0C9"/>
                </a:solidFill>
                <a:latin typeface="Calibri"/>
              </a:rPr>
              <a:t>Visão computacional sobre CFTV existente para a indústria brasileira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B9C0C9"/>
                </a:solidFill>
                <a:latin typeface="Calibri"/>
              </a:rPr>
              <a:t>Metodologia SEBRAE RS / Sequoia Capital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120640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2B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2A71B"/>
                </a:solidFill>
                <a:latin typeface="Cambria"/>
              </a:rPr>
              <a:t>R$ 16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235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CA5B0"/>
                </a:solidFill>
                <a:latin typeface="Calibri"/>
              </a:rPr>
              <a:t>Market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52578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2A71B"/>
                </a:solidFill>
                <a:latin typeface="Cambria"/>
              </a:rPr>
              <a:t>R$ 322 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56235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CA5B0"/>
                </a:solidFill>
                <a:latin typeface="Calibri"/>
              </a:rPr>
              <a:t>TAM Brasil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2578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2A71B"/>
                </a:solidFill>
                <a:latin typeface="Cambria"/>
              </a:rPr>
              <a:t>R$ 45 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6235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CA5B0"/>
                </a:solidFill>
                <a:latin typeface="Calibri"/>
              </a:rPr>
              <a:t>SAM Santa Catarina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52578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2A71B"/>
                </a:solidFill>
                <a:latin typeface="Cambria"/>
              </a:rPr>
              <a:t>R$ 600 mil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56235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CA5B0"/>
                </a:solidFill>
                <a:latin typeface="Calibri"/>
              </a:rPr>
              <a:t>SOM · ARR ano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172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19 de julho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A1D23"/>
                </a:solidFill>
                <a:latin typeface="Cambria"/>
              </a:rPr>
              <a:t>A metodologia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61288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SEBRAE RS / Sequoia — quatro camadas, do bolo inteiro ao que realmente se captura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984248"/>
            <a:ext cx="384048" cy="38404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345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6537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A1D23"/>
                </a:solidFill>
                <a:latin typeface="Cambria"/>
              </a:rPr>
              <a:t>Market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865376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444B55"/>
                </a:solidFill>
                <a:latin typeface="Calibri"/>
              </a:rPr>
              <a:t>Soma das receitas de todo o segmento econômico.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444B55"/>
                </a:solidFill>
                <a:latin typeface="Calibri"/>
              </a:rPr>
              <a:t>É o bolo inteiro — nunca é o seu TAM.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12680" y="2020824"/>
            <a:ext cx="1188720" cy="274320"/>
          </a:xfrm>
          <a:prstGeom prst="roundRect">
            <a:avLst/>
          </a:prstGeom>
          <a:solidFill>
            <a:srgbClr val="E8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6B7280"/>
                </a:solidFill>
                <a:latin typeface="Calibri"/>
              </a:rPr>
              <a:t>top-down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8892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3081527"/>
            <a:ext cx="384048" cy="38404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1318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96265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A1D23"/>
                </a:solidFill>
                <a:latin typeface="Cambria"/>
              </a:rPr>
              <a:t>TAM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962656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444B55"/>
                </a:solidFill>
                <a:latin typeface="Calibri"/>
              </a:rPr>
              <a:t>Total Addressable Market. A fatia do segmento que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444B55"/>
                </a:solidFill>
                <a:latin typeface="Calibri"/>
              </a:rPr>
              <a:t>corresponde ao SEU produto, sem limite geográfico.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12680" y="3118103"/>
            <a:ext cx="1188720" cy="274320"/>
          </a:xfrm>
          <a:prstGeom prst="roundRect">
            <a:avLst/>
          </a:prstGeom>
          <a:solidFill>
            <a:srgbClr val="E8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6B7280"/>
                </a:solidFill>
                <a:latin typeface="Calibri"/>
              </a:rPr>
              <a:t>top-down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2688" y="4178808"/>
            <a:ext cx="384048" cy="384048"/>
          </a:xfrm>
          <a:prstGeom prst="ellipse">
            <a:avLst/>
          </a:prstGeom>
          <a:solidFill>
            <a:srgbClr val="F2A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2291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6191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599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A1D23"/>
                </a:solidFill>
                <a:latin typeface="Cambria"/>
              </a:rPr>
              <a:t>SAM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059936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444B55"/>
                </a:solidFill>
                <a:latin typeface="Calibri"/>
              </a:rPr>
              <a:t>Serviceable Addressable Market. O que você consegue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444B55"/>
                </a:solidFill>
                <a:latin typeface="Calibri"/>
              </a:rPr>
              <a:t>servir com o produto e o modelo atuais.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12680" y="4215384"/>
            <a:ext cx="1188720" cy="274320"/>
          </a:xfrm>
          <a:prstGeom prst="roundRect">
            <a:avLst/>
          </a:prstGeom>
          <a:solidFill>
            <a:srgbClr val="E8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6B7280"/>
                </a:solidFill>
                <a:latin typeface="Calibri"/>
              </a:rPr>
              <a:t>bottom-up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9834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5276088"/>
            <a:ext cx="384048" cy="384048"/>
          </a:xfrm>
          <a:prstGeom prst="ellipse">
            <a:avLst/>
          </a:prstGeom>
          <a:solidFill>
            <a:srgbClr val="F2A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5326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6191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15721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A1D23"/>
                </a:solidFill>
                <a:latin typeface="Cambria"/>
              </a:rPr>
              <a:t>SOM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5157216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444B55"/>
                </a:solidFill>
                <a:latin typeface="Calibri"/>
              </a:rPr>
              <a:t>Serviceable Obtainable Market. O que realisticamente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444B55"/>
                </a:solidFill>
                <a:latin typeface="Calibri"/>
              </a:rPr>
              <a:t>se captura. Precisa ser matematicamente provado.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12680" y="5312664"/>
            <a:ext cx="1188720" cy="274320"/>
          </a:xfrm>
          <a:prstGeom prst="roundRect">
            <a:avLst/>
          </a:prstGeom>
          <a:solidFill>
            <a:srgbClr val="E8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6B7280"/>
                </a:solidFill>
                <a:latin typeface="Calibri"/>
              </a:rPr>
              <a:t>bottom-up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6126480"/>
            <a:ext cx="10881360" cy="566928"/>
          </a:xfrm>
          <a:prstGeom prst="roundRect">
            <a:avLst>
              <a:gd name="adj" fmla="val 6000"/>
            </a:avLst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6300216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C9870E"/>
                </a:solidFill>
                <a:latin typeface="Calibri"/>
              </a:rPr>
              <a:t>O erro que o SEBRAE alerta:  apresentar o Market Size como TAM. Números enormes com projeções irreais assustam investidores em vez de atraí-los.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A1D23"/>
                </a:solidFill>
                <a:latin typeface="Cambria"/>
              </a:rPr>
              <a:t>Premissas de preço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61288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Modelo escolhido: taxa de implantação + mensalidade recorrente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0881360" cy="365760"/>
          </a:xfrm>
          <a:prstGeom prst="rect">
            <a:avLst/>
          </a:prstGeom>
          <a:solidFill>
            <a:srgbClr val="161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65376"/>
            <a:ext cx="58521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84848" y="186537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Valor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8048" y="1865376"/>
            <a:ext cx="192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Natureza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17420"/>
            <a:ext cx="58521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Setup — edge Jetson, instalação e treino do modelo inicial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4848" y="2217420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R$ 20.000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8048" y="2217420"/>
            <a:ext cx="19202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PREMISSA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478024"/>
            <a:ext cx="10881360" cy="329184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46604"/>
            <a:ext cx="58521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Mensalidade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2546604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R$ 50 / câmera / mês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8048" y="2546604"/>
            <a:ext cx="19202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PREMISSA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875788"/>
            <a:ext cx="58521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Site médio (indústria média)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4848" y="2875788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25 câmeras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8048" y="2875788"/>
            <a:ext cx="19202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PREMISSA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136391"/>
            <a:ext cx="10881360" cy="329184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204972"/>
            <a:ext cx="58521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A1D23"/>
                </a:solidFill>
                <a:latin typeface="Calibri"/>
              </a:rPr>
              <a:t>Receita recorrente por cliente / ano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3204972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1" i="0">
                <a:solidFill>
                  <a:srgbClr val="1A1D23"/>
                </a:solidFill>
                <a:latin typeface="Calibri"/>
              </a:rPr>
              <a:t>R$ 15.000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8048" y="3204972"/>
            <a:ext cx="19202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DERIVADO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534156"/>
            <a:ext cx="58521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A1D23"/>
                </a:solidFill>
                <a:latin typeface="Calibri"/>
              </a:rPr>
              <a:t>Receita ano 1 por cliente (setup + 12 meses)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3534156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1" i="0">
                <a:solidFill>
                  <a:srgbClr val="1A1D23"/>
                </a:solidFill>
                <a:latin typeface="Calibri"/>
              </a:rPr>
              <a:t>R$ 35.000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3534156"/>
            <a:ext cx="19202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DERIVADO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160520"/>
            <a:ext cx="5303520" cy="1691640"/>
          </a:xfrm>
          <a:prstGeom prst="roundRect">
            <a:avLst>
              <a:gd name="adj" fmla="val 6000"/>
            </a:avLst>
          </a:prstGeom>
          <a:solidFill>
            <a:srgbClr val="EE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437083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Calibragem do benchmark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690872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333A44"/>
                </a:solidFill>
                <a:latin typeface="Calibri"/>
              </a:rPr>
              <a:t>US$ 3–15/câmera/mês entry a mid-tier; ~US$ 18 para módulos especializados de manufatura (≈ R$ 100).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333A44"/>
                </a:solidFill>
                <a:latin typeface="Calibri"/>
              </a:rPr>
              <a:t>Nossa premissa de R$ 50 é metade do benchmark — coerente com margem já capturada no setup e foco em indústria média.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160520"/>
            <a:ext cx="5303520" cy="1691640"/>
          </a:xfrm>
          <a:prstGeom prst="roundRect">
            <a:avLst>
              <a:gd name="adj" fmla="val 6000"/>
            </a:avLst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437083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9870E"/>
                </a:solidFill>
                <a:latin typeface="Calibri"/>
              </a:rPr>
              <a:t>Por que isso importa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4690872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333A44"/>
                </a:solidFill>
                <a:latin typeface="Calibri"/>
              </a:rPr>
              <a:t>Todo o SAM e o SOM derivam desta premissa.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333A44"/>
                </a:solidFill>
                <a:latin typeface="Calibri"/>
              </a:rPr>
              <a:t>É o primeiro número que um investidor vai atacar — por isso está isolado aqui, com sensibilidade calculada no slide 9.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1">
                <a:solidFill>
                  <a:srgbClr val="6B7280"/>
                </a:solidFill>
                <a:latin typeface="Calibri"/>
              </a:rPr>
              <a:t>Benchmark: Wavestore, 2026 — baixa confiança: nenhum player nomeado publica preço.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A1D23"/>
                </a:solidFill>
                <a:latin typeface="Cambria"/>
              </a:rPr>
              <a:t>Market Size — R$ 16 bilhões / 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61288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Segurança eletrônica no Brasil · fonte primária setorial (ABESE)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029200" cy="2286000"/>
          </a:xfrm>
          <a:prstGeom prst="roundRect">
            <a:avLst>
              <a:gd name="adj" fmla="val 6000"/>
            </a:avLst>
          </a:prstGeom>
          <a:solidFill>
            <a:srgbClr val="161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 i="0">
                <a:solidFill>
                  <a:srgbClr val="F2A71B"/>
                </a:solidFill>
                <a:latin typeface="Cambria"/>
              </a:rPr>
              <a:t>R$ 16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9C0C9"/>
                </a:solidFill>
                <a:latin typeface="Calibri"/>
              </a:rPr>
              <a:t>faturamento 2025  ·  +16,2% sobre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0156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Projeção ABESE para 2026:  +18,8%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B7280"/>
                </a:solidFill>
                <a:latin typeface="Calibri"/>
              </a:rPr>
              <a:t>Série histórica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126480" y="2103120"/>
          <a:ext cx="5486400" cy="2057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" y="4343400"/>
            <a:ext cx="3502152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54456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2A71B"/>
                </a:solidFill>
                <a:latin typeface="Cambria"/>
              </a:rPr>
              <a:t>85,7%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5093208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444B55"/>
                </a:solidFill>
                <a:latin typeface="Calibri"/>
              </a:rPr>
              <a:t>dos produtos fabricados pelo setor já embarcam IA — era 64% no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444B55"/>
                </a:solidFill>
                <a:latin typeface="Calibri"/>
              </a:rPr>
              <a:t>Panorama anterior. Salto de 21 pontos em um ano.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4343400"/>
            <a:ext cx="3502152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454456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2A71B"/>
                </a:solidFill>
                <a:latin typeface="Cambria"/>
              </a:rPr>
              <a:t>+21%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5093208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444B55"/>
                </a:solidFill>
                <a:latin typeface="Calibri"/>
              </a:rPr>
              <a:t>é o crescimento projetado para 2026 pelo segmento de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444B55"/>
                </a:solidFill>
                <a:latin typeface="Calibri"/>
              </a:rPr>
              <a:t>desenvolvedores de software — acima da média do setor.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4343400"/>
            <a:ext cx="3502152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454456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2A71B"/>
                </a:solidFill>
                <a:latin typeface="Cambria"/>
              </a:rPr>
              <a:t>71%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5093208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444B55"/>
                </a:solidFill>
                <a:latin typeface="Calibri"/>
              </a:rPr>
              <a:t>do destino das prestadoras de serviço é o mercado empresarial —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444B55"/>
                </a:solidFill>
                <a:latin typeface="Calibri"/>
              </a:rPr>
              <a:t>não residencial nem condomínio.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1">
                <a:solidFill>
                  <a:srgbClr val="6B7280"/>
                </a:solidFill>
                <a:latin typeface="Calibri"/>
              </a:rPr>
              <a:t>Fonte: Panorama ABESE 2025/2026, divulgado na Exposec em junho de 2026. Este é o bolo inteiro — NÃO é o nosso TAM.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A1D23"/>
                </a:solidFill>
                <a:latin typeface="Cambria"/>
              </a:rPr>
              <a:t>TAM — R$ 322 milhões / 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61288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Construído bottom-up sobre dados do IBGE, não top-down sobre relatório pago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6766560" cy="365760"/>
          </a:xfrm>
          <a:prstGeom prst="rect">
            <a:avLst/>
          </a:prstGeom>
          <a:solidFill>
            <a:srgbClr val="161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6537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Passo da construção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41648" y="1865376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Número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3288" y="1865376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Origem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17420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Empresas industriais no Brasil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41648" y="2217420"/>
            <a:ext cx="1508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358,4 mil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3288" y="2217420"/>
            <a:ext cx="1600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IBGE · PIA 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478024"/>
            <a:ext cx="6766560" cy="329184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46604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Filtro de porte: 50 ou mais funcionários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2546604"/>
            <a:ext cx="1508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~6%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33288" y="2546604"/>
            <a:ext cx="1600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PREMISSA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875788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A1D23"/>
                </a:solidFill>
                <a:latin typeface="Calibri"/>
              </a:rPr>
              <a:t>Indústrias endereçáveis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41648" y="2875788"/>
            <a:ext cx="1508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1" i="0">
                <a:solidFill>
                  <a:srgbClr val="1A1D23"/>
                </a:solidFill>
                <a:latin typeface="Calibri"/>
              </a:rPr>
              <a:t>~21.500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33288" y="2875788"/>
            <a:ext cx="1600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derivado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136391"/>
            <a:ext cx="6766560" cy="329184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20497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Receita recorrente por cliente / ano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41648" y="3204972"/>
            <a:ext cx="1508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R$ 15.000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33288" y="3204972"/>
            <a:ext cx="1600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premissa de preço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534156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A1D23"/>
                </a:solidFill>
                <a:latin typeface="Calibri"/>
              </a:rPr>
              <a:t>TAM recorrente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1648" y="3534156"/>
            <a:ext cx="1508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1" i="0">
                <a:solidFill>
                  <a:srgbClr val="1A1D23"/>
                </a:solidFill>
                <a:latin typeface="Calibri"/>
              </a:rPr>
              <a:t>R$ 322 milhões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33288" y="3534156"/>
            <a:ext cx="1600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derivado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0" y="1783080"/>
            <a:ext cx="3840480" cy="2331720"/>
          </a:xfrm>
          <a:prstGeom prst="roundRect">
            <a:avLst>
              <a:gd name="adj" fmla="val 6000"/>
            </a:avLst>
          </a:prstGeom>
          <a:solidFill>
            <a:srgbClr val="161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79" y="20116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200" b="1" i="0">
                <a:solidFill>
                  <a:srgbClr val="F2A71B"/>
                </a:solidFill>
                <a:latin typeface="Cambria"/>
              </a:rPr>
              <a:t>~2%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6974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9C0C9"/>
                </a:solidFill>
                <a:latin typeface="Calibri"/>
              </a:rPr>
              <a:t>do Market Size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10896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9CA5B0"/>
                </a:solidFill>
                <a:latin typeface="Calibri"/>
              </a:rPr>
              <a:t>Proporção plausível para “software de analytics de vídeo para indústria” dentro de toda a segurança eletrônica do país.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343400"/>
            <a:ext cx="6766560" cy="1783080"/>
          </a:xfrm>
          <a:prstGeom prst="roundRect">
            <a:avLst>
              <a:gd name="adj" fmla="val 6000"/>
            </a:avLst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544568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9870E"/>
                </a:solidFill>
                <a:latin typeface="Calibri"/>
              </a:rPr>
              <a:t>⚠  O ponto mais frágil do documento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864608"/>
            <a:ext cx="6217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333A44"/>
                </a:solidFill>
                <a:latin typeface="Calibri"/>
              </a:rPr>
              <a:t>O filtro de 6% é premissa nossa. O CEMPRE mostra 0,8% das empresas com 50–249 assalariados e 0,2% com 250+, mas esse agregado inclui 71,6% de empresas sem nenhum assalariado, que distorcem para baixo. A indústria tem distribuição de porte maior que serviços.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80960" y="4343400"/>
            <a:ext cx="38404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454456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A1D23"/>
                </a:solidFill>
                <a:latin typeface="Calibri"/>
              </a:rPr>
              <a:t>Por que o corte é 50 funcionários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4864608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44B55"/>
                </a:solidFill>
                <a:latin typeface="Calibri"/>
              </a:rPr>
              <a:t>Abaixo disso a planta raramente tem CFTV com densidade suficiente, equipe de SST dedicada ou orçamento para R$ 20 mil de implantação.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44B55"/>
                </a:solidFill>
                <a:latin typeface="Calibri"/>
              </a:rPr>
              <a:t>É o piso de viabilidade econômica, não de utilidade técnica.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A1D23"/>
                </a:solidFill>
                <a:latin typeface="Cambria"/>
              </a:rPr>
              <a:t>SAM — R$ 45 milhões / 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61288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Santa Catarina · ~3.000 indústrias com 50 ou mais funcionários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2011680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R$ 45 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276148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CE6EB"/>
                </a:solidFill>
                <a:latin typeface="Calibri"/>
              </a:rPr>
              <a:t>SAM Santa Catarina  ·  14% do 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312724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A8D2DA"/>
                </a:solidFill>
                <a:latin typeface="Calibri"/>
              </a:rPr>
              <a:t>~50 mil indústrias × 6% × R$ 15 mil/ano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78308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1D23"/>
                </a:solidFill>
                <a:latin typeface="Calibri"/>
              </a:rPr>
              <a:t>Por que SC é um SAM legítimo, e não apenas conveniente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148840"/>
            <a:ext cx="53949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A1D23"/>
                </a:solidFill>
                <a:latin typeface="Calibri"/>
              </a:rPr>
              <a:t>34% </a:t>
            </a:r>
            <a:r>
              <a:rPr sz="1200">
                <a:solidFill>
                  <a:srgbClr val="1A1D23"/>
                </a:solidFill>
                <a:latin typeface="Calibri"/>
              </a:rPr>
              <a:t>do emprego formal de SC é indústria — a maior taxa do país, contra média nacional de 21%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A1D23"/>
                </a:solidFill>
                <a:latin typeface="Calibri"/>
              </a:rPr>
              <a:t>28,5% </a:t>
            </a:r>
            <a:r>
              <a:rPr sz="1200">
                <a:solidFill>
                  <a:srgbClr val="1A1D23"/>
                </a:solidFill>
                <a:latin typeface="Calibri"/>
              </a:rPr>
              <a:t>do PIB estadual vem da indústria — 6º maior do Brasil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A1D23"/>
                </a:solidFill>
                <a:latin typeface="Calibri"/>
              </a:rPr>
              <a:t>~7 por mil </a:t>
            </a:r>
            <a:r>
              <a:rPr sz="1200">
                <a:solidFill>
                  <a:srgbClr val="1A1D23"/>
                </a:solidFill>
                <a:latin typeface="Calibri"/>
              </a:rPr>
              <a:t>habitantes: maior número de estabelecimentos industriais do país (dado de 2019)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1D23"/>
                </a:solidFill>
                <a:latin typeface="Calibri"/>
              </a:rPr>
              <a:t>Recorte do Vale do Itajaí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480560"/>
            <a:ext cx="5852160" cy="329184"/>
          </a:xfrm>
          <a:prstGeom prst="rect">
            <a:avLst/>
          </a:prstGeom>
          <a:solidFill>
            <a:srgbClr val="161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562856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Recorte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4562856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Indústrias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4562856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Endereçáveis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878324"/>
            <a:ext cx="2377439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A1D23"/>
                </a:solidFill>
                <a:latin typeface="Calibri"/>
              </a:rPr>
              <a:t>Vale do Itajaí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4878324"/>
            <a:ext cx="14630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1" i="0">
                <a:solidFill>
                  <a:srgbClr val="1A1D23"/>
                </a:solidFill>
                <a:latin typeface="Calibri"/>
              </a:rPr>
              <a:t>21,5 mil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4878324"/>
            <a:ext cx="14630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1" i="0">
                <a:solidFill>
                  <a:srgbClr val="1A1D23"/>
                </a:solidFill>
                <a:latin typeface="Calibri"/>
              </a:rPr>
              <a:t>~1.290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111496"/>
            <a:ext cx="5852160" cy="301752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5180076"/>
            <a:ext cx="2377439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Blumenau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5180076"/>
            <a:ext cx="14630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3,2 mil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5180076"/>
            <a:ext cx="14630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~192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481828"/>
            <a:ext cx="2377439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Brusque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5481828"/>
            <a:ext cx="14630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2,0 mil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56048" y="5481828"/>
            <a:ext cx="14630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~120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715000"/>
            <a:ext cx="5852160" cy="301752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5783580"/>
            <a:ext cx="2377439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Itajaí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5783580"/>
            <a:ext cx="14630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1,9 mil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6048" y="5783580"/>
            <a:ext cx="14630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~114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66560" y="4160520"/>
            <a:ext cx="4754880" cy="1600200"/>
          </a:xfrm>
          <a:prstGeom prst="roundRect">
            <a:avLst>
              <a:gd name="adj" fmla="val 6000"/>
            </a:avLst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436168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C9870E"/>
                </a:solidFill>
                <a:latin typeface="Calibri"/>
              </a:rPr>
              <a:t>⚠  Ressalva de fonte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681728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3A44"/>
                </a:solidFill>
                <a:latin typeface="Calibri"/>
              </a:rPr>
              <a:t>A FIESC publica “mais de 63 mil” e “mais de 50 mil” indústrias em SC em páginas diferentes — ambas sem data. Adotamos 50 mil por conservadorismo.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3A44"/>
                </a:solidFill>
                <a:latin typeface="Calibri"/>
              </a:rPr>
              <a:t>Confirmar com o Observatório FIESC antes de uso externo.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1">
                <a:solidFill>
                  <a:srgbClr val="6B7280"/>
                </a:solidFill>
                <a:latin typeface="Calibri"/>
              </a:rPr>
              <a:t>SAM do Vale do Itajaí isolado: ~1.290 indústrias × R$ 15 mil = R$ 19,4 milhões/ano.  Fontes: FIESC, FACISC.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A1D23"/>
                </a:solidFill>
                <a:latin typeface="Cambria"/>
              </a:rPr>
              <a:t>SOM — R$ 600 mil de ARR em 3 anos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61288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Cenário base · 40 clientes · 3,1% do SAM do Vale do Itajaí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2029968"/>
          <a:ext cx="5760720" cy="2606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1755648"/>
            <a:ext cx="5760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Clientes acumulados por cenário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828800"/>
            <a:ext cx="4754880" cy="347472"/>
          </a:xfrm>
          <a:prstGeom prst="rect">
            <a:avLst/>
          </a:prstGeom>
          <a:solidFill>
            <a:srgbClr val="161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76288" y="1911095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Cenário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7888" y="1911095"/>
            <a:ext cx="1051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Clientes ano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1911095"/>
            <a:ext cx="1051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ARR ano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16767" y="1911095"/>
            <a:ext cx="731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% SAM Vale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6288" y="2244852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D23"/>
                </a:solidFill>
                <a:latin typeface="Calibri"/>
              </a:rPr>
              <a:t>Conservador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244852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1A1D23"/>
                </a:solidFill>
                <a:latin typeface="Calibri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82328" y="2244852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1A1D23"/>
                </a:solidFill>
                <a:latin typeface="Calibri"/>
              </a:rPr>
              <a:t>R$ 300 mil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16767" y="2244852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1A1D23"/>
                </a:solidFill>
                <a:latin typeface="Calibri"/>
              </a:rPr>
              <a:t>1,6%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2487168"/>
            <a:ext cx="4754880" cy="310896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76288" y="2555748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1D23"/>
                </a:solidFill>
                <a:latin typeface="Calibri"/>
              </a:rPr>
              <a:t>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555748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A1D23"/>
                </a:solidFill>
                <a:latin typeface="Calibri"/>
              </a:rPr>
              <a:t>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2555748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A1D23"/>
                </a:solidFill>
                <a:latin typeface="Calibri"/>
              </a:rPr>
              <a:t>R$ 600 mil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16767" y="2555748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A1D23"/>
                </a:solidFill>
                <a:latin typeface="Calibri"/>
              </a:rPr>
              <a:t>3,1%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288" y="2866644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D23"/>
                </a:solidFill>
                <a:latin typeface="Calibri"/>
              </a:rPr>
              <a:t>Otimista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866644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1A1D23"/>
                </a:solidFill>
                <a:latin typeface="Calibri"/>
              </a:rPr>
              <a:t>65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2328" y="2866644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1A1D23"/>
                </a:solidFill>
                <a:latin typeface="Calibri"/>
              </a:rPr>
              <a:t>R$ 975 mil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16767" y="2866644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1A1D23"/>
                </a:solidFill>
                <a:latin typeface="Calibri"/>
              </a:rPr>
              <a:t>5,0%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0" y="3337560"/>
            <a:ext cx="4754880" cy="1234440"/>
          </a:xfrm>
          <a:prstGeom prst="roundRect">
            <a:avLst>
              <a:gd name="adj" fmla="val 6000"/>
            </a:avLst>
          </a:prstGeom>
          <a:solidFill>
            <a:srgbClr val="161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352044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2A71B"/>
                </a:solidFill>
                <a:latin typeface="Calibri"/>
              </a:rPr>
              <a:t>Capacidade de entrega é o limitante — não demanda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384048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B9C0C9"/>
                </a:solidFill>
                <a:latin typeface="Calibri"/>
              </a:rPr>
              <a:t>Cada cliente exige instalação física do edge, treino de modelo próprio e configuração de cenário. No cenário base, o ano 3 pede 2 implantações por mês — teto realista de equipe pequena sem canal.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80060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EE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98348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F7A8C"/>
                </a:solidFill>
                <a:latin typeface="Calibri"/>
              </a:rPr>
              <a:t>Referência de mercado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53035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A Pix Force (Porto Alegre), concorrente direta com os mesmos três módulos, faturou R$ 12 milhões em 2023 atendendo Petrobras, Shell, CPFL e Cemig. Nosso cenário base no ano 3 é menos de 10% disso — e num segmento que ela não ataca.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1">
                <a:solidFill>
                  <a:srgbClr val="6B7280"/>
                </a:solidFill>
                <a:latin typeface="Calibri"/>
              </a:rPr>
              <a:t>Receita ano 3 (base) = R$ 600 mil de ARR + 24 setups × R$ 20 mil = R$ 1,08 milhão.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O funil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6128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Cada camada é uma fatia defensável da anterior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6035040" cy="960120"/>
          </a:xfrm>
          <a:prstGeom prst="roundRect">
            <a:avLst>
              <a:gd name="adj" fmla="val 6000"/>
            </a:avLst>
          </a:prstGeom>
          <a:solidFill>
            <a:srgbClr val="2B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192938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2A71B"/>
                </a:solidFill>
                <a:latin typeface="Calibri"/>
              </a:rPr>
              <a:t>MARKET 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2185416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mbria"/>
              </a:rPr>
              <a:t>R$ 16.000.000.000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039112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B9C0C9"/>
                </a:solidFill>
                <a:latin typeface="Calibri"/>
              </a:rPr>
              <a:t>Segurança eletrônica Brasil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B9C0C9"/>
                </a:solidFill>
                <a:latin typeface="Calibri"/>
              </a:rPr>
              <a:t>ABESE 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80360"/>
            <a:ext cx="5120640" cy="960120"/>
          </a:xfrm>
          <a:prstGeom prst="roundRect">
            <a:avLst>
              <a:gd name="adj" fmla="val 6000"/>
            </a:avLst>
          </a:prstGeom>
          <a:solidFill>
            <a:srgbClr val="334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302666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2A71B"/>
                </a:solidFill>
                <a:latin typeface="Calibri"/>
              </a:rPr>
              <a:t>TAM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3282696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mbria"/>
              </a:rPr>
              <a:t>R$ 322.000.000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136391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B9C0C9"/>
                </a:solidFill>
                <a:latin typeface="Calibri"/>
              </a:rPr>
              <a:t>Indústria BR com 50+ funcionários · ~21.500 empresas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B9C0C9"/>
                </a:solidFill>
                <a:latin typeface="Calibri"/>
              </a:rPr>
              <a:t>~2% do Market Size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77639"/>
            <a:ext cx="4206240" cy="960120"/>
          </a:xfrm>
          <a:prstGeom prst="roundRect">
            <a:avLst>
              <a:gd name="adj" fmla="val 6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19" y="412394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2A71B"/>
                </a:solidFill>
                <a:latin typeface="Calibri"/>
              </a:rPr>
              <a:t>SAM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19" y="4379976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mbria"/>
              </a:rPr>
              <a:t>R$ 45.000.000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233672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B9C0C9"/>
                </a:solidFill>
                <a:latin typeface="Calibri"/>
              </a:rPr>
              <a:t>Santa Catarina · ~3.000 empresas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B9C0C9"/>
                </a:solidFill>
                <a:latin typeface="Calibri"/>
              </a:rPr>
              <a:t>14% do TAM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74920"/>
            <a:ext cx="3291840" cy="960120"/>
          </a:xfrm>
          <a:prstGeom prst="roundRect">
            <a:avLst>
              <a:gd name="adj" fmla="val 6000"/>
            </a:avLst>
          </a:prstGeom>
          <a:solidFill>
            <a:srgbClr val="F2A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19" y="522122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6191F"/>
                </a:solidFill>
                <a:latin typeface="Calibri"/>
              </a:rPr>
              <a:t>SOM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19" y="5477256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16191F"/>
                </a:solidFill>
                <a:latin typeface="Cambria"/>
              </a:rPr>
              <a:t>R$ 600.000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330952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B9C0C9"/>
                </a:solidFill>
                <a:latin typeface="Calibri"/>
              </a:rPr>
              <a:t>ARR em 3 anos · 40 clientes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B9C0C9"/>
                </a:solidFill>
                <a:latin typeface="Calibri"/>
              </a:rPr>
              <a:t>3,1% do SAM do Vale do Itajaí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6053328"/>
            <a:ext cx="10881360" cy="566928"/>
          </a:xfrm>
          <a:prstGeom prst="roundRect">
            <a:avLst>
              <a:gd name="adj" fmla="val 6000"/>
            </a:avLst>
          </a:prstGeom>
          <a:solidFill>
            <a:srgbClr val="222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19" y="621792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2A71B"/>
                </a:solidFill>
                <a:latin typeface="Calibri"/>
              </a:rPr>
              <a:t>97% do mercado-alvo imediato continua aberto ao fim do horizonte de 3 anos.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A1D23"/>
                </a:solidFill>
                <a:latin typeface="Cambria"/>
              </a:rPr>
              <a:t>Sensibilidade ao preço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61288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A variável mais volátil do modelo — e a alavanca mais forte do negócio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828800"/>
          <a:ext cx="685800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178308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ARR no ano 3, mantendo 40 clientes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82880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61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59" y="199339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2A71B"/>
                </a:solidFill>
                <a:latin typeface="Cambria"/>
              </a:rPr>
              <a:t>2×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59" y="260604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9C0C9"/>
                </a:solidFill>
                <a:latin typeface="Calibri"/>
              </a:rPr>
              <a:t>Dobrar o preço dobra o ARR sem mudar o esforço de entrega.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429000"/>
            <a:ext cx="3657600" cy="1463040"/>
          </a:xfrm>
          <a:prstGeom prst="roundRect">
            <a:avLst>
              <a:gd name="adj" fmla="val 6000"/>
            </a:avLst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36118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C9870E"/>
                </a:solidFill>
                <a:latin typeface="Calibri"/>
              </a:rPr>
              <a:t>A conclusão que importa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39319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333A44"/>
                </a:solidFill>
                <a:latin typeface="Calibri"/>
              </a:rPr>
              <a:t>A alavanca não é vender mais rápido — é provar valor que sustente ticket maior.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333A44"/>
                </a:solidFill>
                <a:latin typeface="Calibri"/>
              </a:rPr>
              <a:t>É exatamente o que o próximo slide resolve.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12064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5376672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Nossa premissa de R$ 50 é metade do benchmark internacional de módulos especializados de manufatura (~US$ 18 ≈ R$ 100). Há espaço de preço acima — desde que a proposta de valor sustente.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4206240" cy="274320"/>
          </a:xfrm>
          <a:prstGeom prst="roundRect">
            <a:avLst/>
          </a:prstGeom>
          <a:solidFill>
            <a:srgbClr val="F2A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16191F"/>
                </a:solidFill>
                <a:latin typeface="Calibri"/>
              </a:rPr>
              <a:t>O ACHADO COMERCIAL MAIS VALIOSO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O FAP é o ROI auditável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E nenhum concorrente pesquisado ancora a proposta de valor nele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B9C0C9"/>
                </a:solidFill>
                <a:latin typeface="Calibri"/>
              </a:rPr>
              <a:t>O RAT é 1%, 2% ou 3% da folha conforme o risco da atividade. O FAP multiplica isso por um fator de 0,5 a 2,0, conforme o desempenho acidentário da empresa versus a média do seu setor.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Exemplo: indústria com 300 funcionários, folha média R$ 3.000/mês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→ folha anual ≈ R$ 10,8 milhões · atividade de risco grave (RAT 3%)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6400800" cy="502920"/>
          </a:xfrm>
          <a:prstGeom prst="roundRect">
            <a:avLst>
              <a:gd name="adj" fmla="val 6000"/>
            </a:avLst>
          </a:prstGeom>
          <a:solidFill>
            <a:srgbClr val="2B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96849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FAP 2,0 — pior que a média do setor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9684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6,0%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3968496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R$ 648.000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6400800" cy="502920"/>
          </a:xfrm>
          <a:prstGeom prst="roundRect">
            <a:avLst>
              <a:gd name="adj" fmla="val 6000"/>
            </a:avLst>
          </a:prstGeom>
          <a:solidFill>
            <a:srgbClr val="2B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56285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FAP 0,5 — melhor que a média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56285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1,5%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4562856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R$ 162.000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29200"/>
            <a:ext cx="6400800" cy="566928"/>
          </a:xfrm>
          <a:prstGeom prst="roundRect">
            <a:avLst>
              <a:gd name="adj" fmla="val 6000"/>
            </a:avLst>
          </a:prstGeom>
          <a:solidFill>
            <a:srgbClr val="F2A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846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6191F"/>
                </a:solidFill>
                <a:latin typeface="Calibri"/>
              </a:rPr>
              <a:t>Diferença anual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16636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1" i="0">
                <a:solidFill>
                  <a:srgbClr val="16191F"/>
                </a:solidFill>
                <a:latin typeface="Calibri"/>
              </a:rPr>
              <a:t>R$ 486.000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2148840"/>
            <a:ext cx="4023360" cy="3794760"/>
          </a:xfrm>
          <a:prstGeom prst="roundRect">
            <a:avLst>
              <a:gd name="adj" fmla="val 6000"/>
            </a:avLst>
          </a:prstGeom>
          <a:solidFill>
            <a:srgbClr val="222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19" y="237744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2A71B"/>
                </a:solidFill>
                <a:latin typeface="Cambria"/>
              </a:rPr>
              <a:t>Três razões que tornam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2A71B"/>
                </a:solidFill>
                <a:latin typeface="Cambria"/>
              </a:rPr>
              <a:t>o argumento forte</a:t>
            </a:r>
          </a:p>
        </p:txBody>
      </p:sp>
      <p:sp>
        <p:nvSpPr>
          <p:cNvPr id="21" name="Oval 20"/>
          <p:cNvSpPr/>
          <p:nvPr/>
        </p:nvSpPr>
        <p:spPr>
          <a:xfrm>
            <a:off x="7818119" y="3154680"/>
            <a:ext cx="310896" cy="310896"/>
          </a:xfrm>
          <a:prstGeom prst="ellipse">
            <a:avLst/>
          </a:prstGeom>
          <a:solidFill>
            <a:srgbClr val="F2A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19" y="320497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6191F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317296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É auditável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3447288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9CA5B0"/>
                </a:solidFill>
                <a:latin typeface="Calibri"/>
              </a:rPr>
              <a:t>O FAP é publicado pelo próprio INSS no DOU e verificável no eSocial. Não é promessa de vendor.</a:t>
            </a:r>
          </a:p>
        </p:txBody>
      </p:sp>
      <p:sp>
        <p:nvSpPr>
          <p:cNvPr id="25" name="Oval 24"/>
          <p:cNvSpPr/>
          <p:nvPr/>
        </p:nvSpPr>
        <p:spPr>
          <a:xfrm>
            <a:off x="7818119" y="4114800"/>
            <a:ext cx="310896" cy="310896"/>
          </a:xfrm>
          <a:prstGeom prst="ellipse">
            <a:avLst/>
          </a:prstGeom>
          <a:solidFill>
            <a:srgbClr val="F2A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19" y="4165091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6191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4133087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Muda o bolso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4407408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9CA5B0"/>
                </a:solidFill>
                <a:latin typeface="Calibri"/>
              </a:rPr>
              <a:t>Sai do orçamento de tributos, não do de TI — e muda o interlocutor.</a:t>
            </a:r>
          </a:p>
        </p:txBody>
      </p:sp>
      <p:sp>
        <p:nvSpPr>
          <p:cNvPr id="29" name="Oval 28"/>
          <p:cNvSpPr/>
          <p:nvPr/>
        </p:nvSpPr>
        <p:spPr>
          <a:xfrm>
            <a:off x="7818119" y="5074920"/>
            <a:ext cx="310896" cy="310896"/>
          </a:xfrm>
          <a:prstGeom prst="ellipse">
            <a:avLst/>
          </a:prstGeom>
          <a:solidFill>
            <a:srgbClr val="F2A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19" y="512521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6191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5093207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Está livre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9" y="5367528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9CA5B0"/>
                </a:solidFill>
                <a:latin typeface="Calibri"/>
              </a:rPr>
              <a:t>Nenhum concorrente pesquisado usa isso. É espaço aberto de posicionamento.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14476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2A71B"/>
                </a:solidFill>
                <a:latin typeface="Calibri"/>
              </a:rPr>
              <a:t>Contra um custo de R$ 20 mil de setup + R$ 15 mil/ano: o sistema se paga com 3% da economia potencial.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A1D23"/>
                </a:solidFill>
                <a:latin typeface="Cambria"/>
              </a:rPr>
              <a:t>O relógio regulatório está tocando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61288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A demanda por evidência documentada de conformidade sobe agora — não num futuro hipotético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88136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19" y="2167128"/>
            <a:ext cx="310896" cy="310896"/>
          </a:xfrm>
          <a:prstGeom prst="ellipse">
            <a:avLst/>
          </a:prstGeom>
          <a:solidFill>
            <a:srgbClr val="F2A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19" y="1984248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F2A71B"/>
                </a:solidFill>
                <a:latin typeface="Cambria"/>
              </a:rPr>
              <a:t>NR-6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235915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EPI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02082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444B55"/>
                </a:solidFill>
                <a:latin typeface="Calibri"/>
              </a:rPr>
              <a:t>Obriga o empregador a “exigir o uso” e “fiscalizar a utilização correta” do EPI.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444B55"/>
                </a:solidFill>
                <a:latin typeface="Calibri"/>
              </a:rPr>
              <a:t>Hoje isso é cumprido com ronda humana e assinatura em papel.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59" y="2039112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1A1D23"/>
                </a:solidFill>
                <a:latin typeface="Calibri"/>
              </a:rPr>
              <a:t>Não criamos categoria — automatizamos uma obrigação legal mal cumprida.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90088"/>
            <a:ext cx="1088136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19" y="3374136"/>
            <a:ext cx="310896" cy="310896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19" y="3191256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7A8C"/>
                </a:solidFill>
                <a:latin typeface="Cambria"/>
              </a:rPr>
              <a:t>NR-1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356616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GRO / PGR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22783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444B55"/>
                </a:solidFill>
                <a:latin typeface="Calibri"/>
              </a:rPr>
              <a:t>Atualização de mai/2025 incorporou riscos psicossociais. Fase educativa até 25/05/2026.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444B55"/>
                </a:solidFill>
                <a:latin typeface="Calibri"/>
              </a:rPr>
              <a:t>Fiscalização punitiva plena começou em 26/05/2026.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59" y="3246120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1A1D23"/>
                </a:solidFill>
                <a:latin typeface="Calibri"/>
              </a:rPr>
              <a:t>Já está valendo. Obrigatória para toda empresa com empregado CLT, sem exceção de porte.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97096"/>
            <a:ext cx="1088136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19" y="4581144"/>
            <a:ext cx="310896" cy="310896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19" y="439826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B33A3A"/>
                </a:solidFill>
                <a:latin typeface="Cambria"/>
              </a:rPr>
              <a:t>Portaria 104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77316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30/01/2026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43484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444B55"/>
                </a:solidFill>
                <a:latin typeface="Calibri"/>
              </a:rPr>
              <a:t>Alterou o Anexo II da NR-28, atualizou códigos de infração e reajustou penalidades.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444B55"/>
                </a:solidFill>
                <a:latin typeface="Calibri"/>
              </a:rPr>
              <a:t>Novo item 28.3.3 institui reajuste anual automático das multas.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59" y="4453128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1A1D23"/>
                </a:solidFill>
                <a:latin typeface="Calibri"/>
              </a:rPr>
              <a:t>As multas passam a subir sozinhas, todo ano.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577840"/>
            <a:ext cx="10881360" cy="566928"/>
          </a:xfrm>
          <a:prstGeom prst="roundRect">
            <a:avLst>
              <a:gd name="adj" fmla="val 6000"/>
            </a:avLst>
          </a:prstGeom>
          <a:solidFill>
            <a:srgbClr val="161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742432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2A71B"/>
                </a:solidFill>
                <a:latin typeface="Calibri"/>
              </a:rPr>
              <a:t>742,2 mil acidentes de trabalho projetados para 2024  ·  2,4 mil óbitos  ·  uma notificação de óbito a cada 3,5 horas  ·  R$ 173 bi de gasto do INSS desde 2012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0936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1">
                <a:solidFill>
                  <a:srgbClr val="6B7280"/>
                </a:solidFill>
                <a:latin typeface="Calibri"/>
              </a:rPr>
              <a:t>Fontes: MTE (texto das NRs), FIERGS (informe Portaria 104/2026), Observatório SST — SmartLab MPT/OIT.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A1D23"/>
                </a:solidFill>
                <a:latin typeface="Cambria"/>
              </a:rPr>
              <a:t>O espaço competitivo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61288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Enterprise global bem capitalizado, líder brasileiro em grandes contas — e o meio aberto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0881360" cy="365760"/>
          </a:xfrm>
          <a:prstGeom prst="rect">
            <a:avLst/>
          </a:prstGeom>
          <a:solidFill>
            <a:srgbClr val="161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6537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18688" y="186537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Origem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73168" y="1865376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Capital / porte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9327" y="186537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Alvo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17420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Intenseye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8688" y="2217420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217420"/>
            <a:ext cx="338327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US$ 64 mi · Series B (fev/2024)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2217420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Enterprise global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496312"/>
            <a:ext cx="10881360" cy="347472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564892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Protex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2564892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Global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2564892"/>
            <a:ext cx="338327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US$ 36 mi · Series B (jan/2025)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564892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Enterprise · tese privacy-first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912364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Voxel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18688" y="2912364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Global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2912364"/>
            <a:ext cx="338327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US$ 12 mi (2023)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2912364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Manufatura e logística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191256"/>
            <a:ext cx="10881360" cy="347472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259836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A1D23"/>
                </a:solidFill>
                <a:latin typeface="Calibri"/>
              </a:rPr>
              <a:t>Pix Force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18688" y="3259836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Brasil · POA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3259836"/>
            <a:ext cx="338327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A1D23"/>
                </a:solidFill>
                <a:latin typeface="Calibri"/>
              </a:rPr>
              <a:t>R$ 12 mi de faturamento (2023)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3259836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A1D23"/>
                </a:solidFill>
                <a:latin typeface="Calibri"/>
              </a:rPr>
              <a:t>Petrobras, Shell, CPFL, Cemig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3607308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Quickium (SafeWatch)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18688" y="3607308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Brasil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73168" y="3607308"/>
            <a:ext cx="338327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1º lugar prêmio ABDI/Finep/Nestlé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7" y="3607308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D23"/>
                </a:solidFill>
                <a:latin typeface="Calibri"/>
              </a:rPr>
              <a:t>Posicionamento idêntico ao nosso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069080"/>
            <a:ext cx="350215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427024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F2A71B"/>
                </a:solidFill>
                <a:latin typeface="Cambria"/>
              </a:rPr>
              <a:t>O espaço aberto é</a:t>
            </a:r>
          </a:p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F2A71B"/>
                </a:solidFill>
                <a:latin typeface="Cambria"/>
              </a:rPr>
              <a:t>indústria média regional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491032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444B55"/>
                </a:solidFill>
                <a:latin typeface="Calibri"/>
              </a:rPr>
              <a:t>A Pix Force atende energia e óleo e gás. Enterprise players não atendem uma indústria de 300 pessoas em Blumenau economicamente — o CAC não fecha. É exatamente onde a RVB está.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25112" y="4069080"/>
            <a:ext cx="350215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81144" y="427024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F7A8C"/>
                </a:solidFill>
                <a:latin typeface="Cambria"/>
              </a:rPr>
              <a:t>A tese edge tem</a:t>
            </a:r>
          </a:p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F7A8C"/>
                </a:solidFill>
                <a:latin typeface="Cambria"/>
              </a:rPr>
              <a:t>validação de mercado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81144" y="491032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444B55"/>
                </a:solidFill>
                <a:latin typeface="Calibri"/>
              </a:rPr>
              <a:t>A Protex AI levantou US$ 36 milhões vendendo processamento local e residência de dados. Nossa arquitetura é essa tese — e sob LGPD, com câmeras que travam se expostas, o argumento é mais forte.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10144" y="4069080"/>
            <a:ext cx="350215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66176" y="427024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B33A3A"/>
                </a:solidFill>
                <a:latin typeface="Cambria"/>
              </a:rPr>
              <a:t>A Quickium é a que</a:t>
            </a:r>
          </a:p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B33A3A"/>
                </a:solidFill>
                <a:latin typeface="Cambria"/>
              </a:rPr>
              <a:t>devemos monitorar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66176" y="491032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444B55"/>
                </a:solidFill>
                <a:latin typeface="Calibri"/>
              </a:rPr>
              <a:t>Posicionamento textualmente idêntico: “adapta-se às câmeras de vigilância comuns que as empresas já possuem”. Ganhou o prêmio ABDI/Finep/Nestlé, com a Pix Force em 2º.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A1D23"/>
                </a:solidFill>
                <a:latin typeface="Cambria"/>
              </a:rPr>
              <a:t>O módulo que puxa a narrativa é o EPI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61288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Os dois módulos vivem em mercados com dinâmicas muito diferentes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920240"/>
          <a:ext cx="585216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858000" y="1920240"/>
            <a:ext cx="4663440" cy="1417320"/>
          </a:xfrm>
          <a:prstGeom prst="roundRect">
            <a:avLst>
              <a:gd name="adj" fmla="val 6000"/>
            </a:avLst>
          </a:prstGeom>
          <a:solidFill>
            <a:srgbClr val="161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21214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2A71B"/>
                </a:solidFill>
                <a:latin typeface="Cambria"/>
              </a:rPr>
              <a:t>EPI vive no mercado quente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468880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B9C0C9"/>
                </a:solidFill>
                <a:latin typeface="Calibri"/>
              </a:rPr>
              <a:t>Crescimento de 21% a 31% ao ano, obrigação legal explícita (NR-6), relógio regulatório e ROI tributário via FAP.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520440"/>
            <a:ext cx="4663440" cy="1234440"/>
          </a:xfrm>
          <a:prstGeom prst="roundRect">
            <a:avLst>
              <a:gd name="adj" fmla="val 6000"/>
            </a:avLst>
          </a:prstGeom>
          <a:solidFill>
            <a:srgbClr val="EE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37033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Qualidade é mercado maduro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02336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333A44"/>
                </a:solidFill>
                <a:latin typeface="Calibri"/>
              </a:rPr>
              <a:t>Cresce 8% a 13%. Continua valioso — mas como expansão de conta, não como porta de entrada.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02920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521208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C9870E"/>
                </a:solidFill>
                <a:latin typeface="Calibri"/>
              </a:rPr>
              <a:t>Implicação de produto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5321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Priorizar a maturidade do módulo EPI e da evidência de conformidade acima do refinamento do detector de qualidade — que hoje, aliás, ainda não tem dataset rotulado.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A1D23"/>
                </a:solidFill>
                <a:latin typeface="Cambria"/>
              </a:rPr>
              <a:t>O que fechar antes de apresentar a investidor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61288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Duas lacunas são a base do TAM e do SAM — e o primeiro lugar onde um analista competente vai bater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130552"/>
            <a:ext cx="402336" cy="402336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8084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84248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A1D23"/>
                </a:solidFill>
                <a:latin typeface="Cambria"/>
              </a:rPr>
              <a:t>Contagem de indústrias por faixa de porte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31720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444B55"/>
                </a:solidFill>
                <a:latin typeface="Calibri"/>
              </a:rPr>
              <a:t>O filtro de 6% é premissa nossa, não dado. Fechar com a tabela SIDRA 2718 do IBGE (CEMPRE: nº de empresas por seção CNAE e faixa de pessoal assalariado).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32719" y="2194560"/>
            <a:ext cx="914400" cy="274320"/>
          </a:xfrm>
          <a:prstGeom prst="round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ALTO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99232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3346704"/>
            <a:ext cx="402336" cy="402336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9699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200400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A1D23"/>
                </a:solidFill>
                <a:latin typeface="Cambria"/>
              </a:rPr>
              <a:t>Número de indústrias em Santa Catarina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547872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444B55"/>
                </a:solidFill>
                <a:latin typeface="Calibri"/>
              </a:rPr>
              <a:t>A FIESC publica 50 mil e 63 mil em páginas diferentes, ambas sem data. Solicitar ao Observatório FIESC com ano e metodologia.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32719" y="3410712"/>
            <a:ext cx="914400" cy="274320"/>
          </a:xfrm>
          <a:prstGeom prst="round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ALTO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15384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2688" y="4562856"/>
            <a:ext cx="402336" cy="402336"/>
          </a:xfrm>
          <a:prstGeom prst="ellipse">
            <a:avLst/>
          </a:prstGeom>
          <a:solidFill>
            <a:srgbClr val="F2A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61314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6191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416552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A1D23"/>
                </a:solidFill>
                <a:latin typeface="Cambria"/>
              </a:rPr>
              <a:t>Multas por código da NR-28 pós-Portaria 104/2026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764024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444B55"/>
                </a:solidFill>
                <a:latin typeface="Calibri"/>
              </a:rPr>
              <a:t>Baixar os Anexos I e II da norma em gov.br. Reforça o pitch, não sustenta o modelo.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32719" y="4626864"/>
            <a:ext cx="914400" cy="274320"/>
          </a:xfrm>
          <a:prstGeom prst="roundRect">
            <a:avLst/>
          </a:prstGeom>
          <a:solidFill>
            <a:srgbClr val="F2A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16191F"/>
                </a:solidFill>
                <a:latin typeface="Calibri"/>
              </a:rPr>
              <a:t>MÉDIO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48640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61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650992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2A71B"/>
                </a:solidFill>
                <a:latin typeface="Calibri"/>
              </a:rPr>
              <a:t>Nota metodológica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943600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B9C0C9"/>
                </a:solidFill>
                <a:latin typeface="Calibri"/>
              </a:rPr>
              <a:t>Os relatórios globais de EHS software foram descartados de propósito: as estimativas para 2025 variam de US$ 2,26 bi a US$ 52,2 bi — fator de 23×. Por isso o TAM foi construído bottom-up sobre IBGE.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Como apresentar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O que o SEBRAE alerta: investidores não querem o maior número — querem uma explicação em que possam acreditar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03520" cy="3063240"/>
          </a:xfrm>
          <a:prstGeom prst="roundRect">
            <a:avLst>
              <a:gd name="adj" fmla="val 6000"/>
            </a:avLst>
          </a:prstGeom>
          <a:solidFill>
            <a:srgbClr val="1D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202996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6ED19E"/>
                </a:solidFill>
                <a:latin typeface="Cambria"/>
              </a:rPr>
              <a:t>FAÇA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2468880"/>
            <a:ext cx="46634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>
                <a:solidFill>
                  <a:srgbClr val="CFE3D8"/>
                </a:solidFill>
                <a:latin typeface="Calibri"/>
              </a:rPr>
              <a:t>Apresente o TAM de R$ 322 mi — nunca o Market Size de R$ 16 bi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CFE3D8"/>
                </a:solidFill>
                <a:latin typeface="Calibri"/>
              </a:rPr>
              <a:t>Mostre o SOM como fatia pequena de um SAM grande (3,1%). Isso demonstra consciência de execução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CFE3D8"/>
                </a:solidFill>
                <a:latin typeface="Calibri"/>
              </a:rPr>
              <a:t>Ancore no FAP e na NR-6, não em “IA de ponta”. O comprador é gerente de SST ou CFO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CFE3D8"/>
                </a:solidFill>
                <a:latin typeface="Calibri"/>
              </a:rPr>
              <a:t>Cite a Pix Force você mesmo, antes que perguntem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3063240"/>
          </a:xfrm>
          <a:prstGeom prst="roundRect">
            <a:avLst>
              <a:gd name="adj" fmla="val 6000"/>
            </a:avLst>
          </a:prstGeom>
          <a:solidFill>
            <a:srgbClr val="3A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02996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88B8B"/>
                </a:solidFill>
                <a:latin typeface="Cambria"/>
              </a:rPr>
              <a:t>EVITE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468880"/>
            <a:ext cx="46634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150">
                <a:solidFill>
                  <a:srgbClr val="E8D0D0"/>
                </a:solidFill>
                <a:latin typeface="Calibri"/>
              </a:rPr>
              <a:t>Os números de custo de acidente sem fonte (R$ 468 bi, R$ 100 bi) — são derivações e blogs</a:t>
            </a:r>
          </a:p>
          <a:p>
            <a:pPr>
              <a:spcAft>
                <a:spcPts val="1200"/>
              </a:spcAft>
            </a:pPr>
            <a:r>
              <a:rPr sz="1150">
                <a:solidFill>
                  <a:srgbClr val="E8D0D0"/>
                </a:solidFill>
                <a:latin typeface="Calibri"/>
              </a:rPr>
              <a:t>Misturar fontes de mercado incompatíveis — IMARC e Mordor se contradizem em 2×</a:t>
            </a:r>
          </a:p>
          <a:p>
            <a:pPr>
              <a:spcAft>
                <a:spcPts val="1200"/>
              </a:spcAft>
            </a:pPr>
            <a:r>
              <a:rPr sz="1150">
                <a:solidFill>
                  <a:srgbClr val="E8D0D0"/>
                </a:solidFill>
                <a:latin typeface="Calibri"/>
              </a:rPr>
              <a:t>Apresentar o filtro de 6% como dado. É premissa nossa — feche a lacuna 1 antes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21208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222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19" y="537667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E o próximo passo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19" y="566928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B9C0C9"/>
                </a:solidFill>
                <a:latin typeface="Calibri"/>
              </a:rPr>
              <a:t>Fechar a lacuna 1 (tabela SIDRA 2718 do IBGE) e a lacuna 2 (Observatório FIESC) — as duas sustentam o TAM e o SAM, e são o primeiro alvo de um analista.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6263640"/>
            <a:ext cx="10881360" cy="475488"/>
          </a:xfrm>
          <a:prstGeom prst="roundRect">
            <a:avLst>
              <a:gd name="adj" fmla="val 6000"/>
            </a:avLst>
          </a:prstGeom>
          <a:solidFill>
            <a:srgbClr val="F2A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6382512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6191F"/>
                </a:solidFill>
                <a:latin typeface="Calibri"/>
              </a:rPr>
              <a:t>O número que vai no plano de negócio é o SOM: R$ 600 mil de ARR no ano 3, com 97% do mercado-alvo ainda aberto.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